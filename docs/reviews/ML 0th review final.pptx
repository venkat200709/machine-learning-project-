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319" r:id="rId2"/>
    <p:sldId id="506" r:id="rId3"/>
    <p:sldId id="515" r:id="rId4"/>
    <p:sldId id="516" r:id="rId5"/>
    <p:sldId id="535" r:id="rId6"/>
    <p:sldId id="51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5EB6FF-ADAA-45C6-A825-247BBAE19742}" type="datetimeFigureOut">
              <a:rPr lang="en-IN" smtClean="0"/>
              <a:t>21-06-2026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A77BC4-17D5-4B3B-8254-CC862B6A5E2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0998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E602E-F900-9031-6AC8-73F10556E0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4C2B61-6876-88B3-A5F9-7B829DA423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A60275-ABCD-B29C-8C0A-6E4F2FD3E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6B63D-21BB-41F1-8704-F00B279A604F}" type="datetime1">
              <a:rPr lang="en-IN" smtClean="0"/>
              <a:t>21-06-2026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FF3498-F4F9-DB41-CD36-6A221BCB6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PROJECT -ZEROTH REVIEW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CE914-FBBD-92B9-9CA2-3F40FD1D7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6633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98DF1-C5BE-6796-70DE-A3F503A71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F4492F-7D80-29C9-2308-5A8569C2D3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13FDF3-E10C-A3F0-B98D-453E8083D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2C3DF-4412-4BC1-97AA-52BD2478F3D8}" type="datetime1">
              <a:rPr lang="en-IN" smtClean="0"/>
              <a:t>21-06-2026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066F82-2042-C918-C81F-2F9B4F18B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PROJECT -ZEROTH REVIEW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C9D627-19C3-DC54-7CD9-FA5500839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5786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671E6-8C35-83BC-2B33-0655540CB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5F6C37-AB34-25BE-12C1-AA65FCA8F7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F8FFD-45F0-DD57-FE3C-9E076ACE2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BB0F3-C9C0-4A4B-BFE0-8D34FD3671A2}" type="datetime1">
              <a:rPr lang="en-IN" smtClean="0"/>
              <a:t>21-06-2026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2A5514-393C-EFCE-01F9-B2CE001A8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PROJECT -ZEROTH REVIEW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5ACB48-3533-1C36-3514-71B63718C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42056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CD219-FA69-9CBF-FBDE-B710CFB85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158CF-DE11-9B79-12E3-5342CE5B61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E2B980-E864-34A6-6906-C86638E185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A7FA1C-7B6A-BA75-B37B-195B0F573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60E38-5027-4245-AB81-62224A81B149}" type="datetime1">
              <a:rPr lang="en-IN" smtClean="0"/>
              <a:t>21-06-2026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97CB70-8B73-BAB9-8426-FDEFD7163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PROJECT -ZEROTH REVIEW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A51A4B-870D-163F-53D2-0AADE3398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2398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BA5A0-BB01-6BB8-C159-471001A90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76893-4A4F-426A-A5F6-626610F379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95C00F-0E53-D71D-782E-D740B83A1A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83FF82-8820-CCBF-411E-57C2C0FB43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AF392E-9590-423C-3F62-1B99F8ED7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51395E-14B8-3C49-B85F-5EE4C7A43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4C9D1-EBBF-4D71-A340-96F5483533B1}" type="datetime1">
              <a:rPr lang="en-IN" smtClean="0"/>
              <a:t>21-06-2026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5F0EAD-79ED-31EE-A7B8-00CA48D0D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PROJECT -ZEROTH REVIEW</a:t>
            </a:r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9BBB80-F93E-5FA1-B554-B865EFB6E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3444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D0E9A-C769-7BAB-77EC-E3DD0C871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9FE8A4-529A-DDB2-CFFE-2621FA723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E9C10-C4D2-44AB-BD9A-4FE70416828F}" type="datetime1">
              <a:rPr lang="en-IN" smtClean="0"/>
              <a:t>21-06-2026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97F48B-5C43-9F3A-55CC-A47A74EE7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PROJECT -ZEROTH REVIEW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BDCAC-FA44-2D60-C7FB-00EA9C2A9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9546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7AFBC8-4429-3CF2-D7FD-013C843A5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ECC89-FCC1-4C9C-840E-2D878B1DA95C}" type="datetime1">
              <a:rPr lang="en-IN" smtClean="0"/>
              <a:t>21-06-2026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6F2463-4C84-38B5-C473-94DEDD337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PROJECT -ZEROTH REVIEW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D4EB43-8F87-9269-D6F6-0FBA03253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3765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21E04-8BD9-6B68-FC0F-A711F6A8C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7F50A1-7EB1-0089-AFE0-A0B4139BAA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8D8750-631F-0F8E-8365-7236BB4F64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4EE415-B1A5-EF49-8E72-3A526EF23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5C1F9-E7E3-4298-9885-A53E9B3AFEA2}" type="datetime1">
              <a:rPr lang="en-IN" smtClean="0"/>
              <a:t>21-06-2026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4330E7-EC53-C9ED-DBB8-5B347D7F2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PROJECT -ZEROTH REVIEW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DCD15B-3E89-C907-AE04-8C7A74F28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7313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BBE34-C477-BD1D-5C4A-423A42EC4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F98EAA-EB77-18BB-153B-3C2C17FD4C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F9DA39-FACA-F80B-5621-B93583F1D0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DF808F-D30B-9980-A54D-AF59385A3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310E7-4E48-4245-A96B-28C2339B7D84}" type="datetime1">
              <a:rPr lang="en-IN" smtClean="0"/>
              <a:t>21-06-2026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D7B967-36B2-D49E-ACAA-62ED90179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PROJECT -ZEROTH REVIEW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F779D1-E21D-CDFE-D44E-F0AE9A47E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5041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8ADA2-FAF6-FC43-216D-329339BBA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F6FCD0-243C-6296-B116-1BE620DC32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754B15-B895-3960-42A1-243C13660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97D2F-A67D-4A2E-AFF9-4304FEA6B770}" type="datetime1">
              <a:rPr lang="en-IN" smtClean="0"/>
              <a:t>21-06-2026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F702E8-C53E-4EA8-5371-E99E20C0B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PROJECT -ZEROTH REVIEW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71A6DE-5D9F-FF19-9DCE-40347D324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0322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0E82D7-F785-4947-1FAC-D31467C679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B5C0C9-4A27-BB0A-99C0-CD5C624AAA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A07FE6-F9D6-5313-31D3-3B456B3EC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4151E-22CF-4441-ABE5-BF7CD2EBF5B2}" type="datetime1">
              <a:rPr lang="en-IN" smtClean="0"/>
              <a:t>21-06-2026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BC271F-B837-12E3-63A5-2BF92AF5D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PROJECT -ZEROTH REVIEW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A47357-8C1B-DAF7-EA68-D7B300470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0642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2500EC-1157-3044-AF8C-8BB8052A0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1158B8-89EE-6370-40DB-B553292010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70FA01-4EFB-2556-186F-6EDC8B37E2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50027E-2B3F-44D3-B17E-607BDE2FD92D}" type="datetime1">
              <a:rPr lang="en-IN" smtClean="0"/>
              <a:t>21-06-2026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73A508-2D6B-F27D-0E75-55977FA039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MACHINE LEARNING PROJECT -ZEROTH REVIEW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89B5CE-202A-2084-F4FC-495F1B77B5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9418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8950" y="261666"/>
            <a:ext cx="10515600" cy="2387600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CS5305-MACHINE LEARNING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sz="1800" b="1" dirty="0">
                <a:solidFill>
                  <a:schemeClr val="tx1"/>
                </a:solidFill>
              </a:rPr>
              <a:t>22-06-2026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417F7-1E74-4EFC-97D3-AF67DA5DD88F}" type="slidenum">
              <a:rPr lang="en-IN" sz="1800" smtClean="0">
                <a:solidFill>
                  <a:schemeClr val="tx1"/>
                </a:solidFill>
              </a:rPr>
              <a:t>1</a:t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695C9B8-2B8D-722A-D1E4-DB26ABC227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4663" y="3486807"/>
            <a:ext cx="4562669" cy="2387599"/>
          </a:xfrm>
          <a:solidFill>
            <a:schemeClr val="bg1"/>
          </a:solidFill>
        </p:spPr>
        <p:txBody>
          <a:bodyPr rtlCol="0">
            <a:normAutofit/>
          </a:bodyPr>
          <a:lstStyle/>
          <a:p>
            <a:pPr algn="just" eaLnBrk="1" fontAlgn="auto" hangingPunct="1">
              <a:spcBef>
                <a:spcPts val="575"/>
              </a:spcBef>
              <a:spcAft>
                <a:spcPts val="0"/>
              </a:spcAft>
              <a:buClr>
                <a:srgbClr val="D34817"/>
              </a:buClr>
              <a:buSzPct val="85000"/>
              <a:defRPr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by</a:t>
            </a:r>
          </a:p>
          <a:p>
            <a:pPr algn="just" eaLnBrk="1" fontAlgn="auto" hangingPunct="1">
              <a:spcBef>
                <a:spcPts val="575"/>
              </a:spcBef>
              <a:spcAft>
                <a:spcPts val="0"/>
              </a:spcAft>
              <a:buClr>
                <a:srgbClr val="D34817"/>
              </a:buClr>
              <a:buSzPct val="85000"/>
              <a:defRPr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VENKATESAN</a:t>
            </a:r>
          </a:p>
          <a:p>
            <a:pPr algn="just" eaLnBrk="1" fontAlgn="auto" hangingPunct="1">
              <a:spcBef>
                <a:spcPts val="575"/>
              </a:spcBef>
              <a:spcAft>
                <a:spcPts val="0"/>
              </a:spcAft>
              <a:buClr>
                <a:srgbClr val="D34817"/>
              </a:buClr>
              <a:buSzPct val="85000"/>
              <a:defRPr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2104251040604</a:t>
            </a:r>
          </a:p>
          <a:p>
            <a:pPr algn="just" eaLnBrk="1" fontAlgn="auto" hangingPunct="1">
              <a:spcBef>
                <a:spcPts val="575"/>
              </a:spcBef>
              <a:spcAft>
                <a:spcPts val="0"/>
              </a:spcAft>
              <a:buClr>
                <a:srgbClr val="D34817"/>
              </a:buClr>
              <a:buSzPct val="85000"/>
              <a:defRPr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NEETHIVENDHAN T</a:t>
            </a:r>
          </a:p>
          <a:p>
            <a:pPr algn="just" eaLnBrk="1" fontAlgn="auto" hangingPunct="1">
              <a:spcBef>
                <a:spcPts val="575"/>
              </a:spcBef>
              <a:spcAft>
                <a:spcPts val="0"/>
              </a:spcAft>
              <a:buClr>
                <a:srgbClr val="D34817"/>
              </a:buClr>
              <a:buSzPct val="85000"/>
              <a:defRPr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2104251040629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 eaLnBrk="1" fontAlgn="auto" hangingPunct="1">
              <a:spcBef>
                <a:spcPct val="20000"/>
              </a:spcBef>
              <a:spcAft>
                <a:spcPts val="0"/>
              </a:spcAft>
              <a:defRPr/>
            </a:pPr>
            <a:endParaRPr lang="en-US" sz="20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 eaLnBrk="1" fontAlgn="auto" hangingPunct="1">
              <a:spcBef>
                <a:spcPct val="20000"/>
              </a:spcBef>
              <a:spcAft>
                <a:spcPts val="0"/>
              </a:spcAft>
              <a:defRPr/>
            </a:pP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 eaLnBrk="1" fontAlgn="auto" hangingPunct="1">
              <a:spcBef>
                <a:spcPct val="20000"/>
              </a:spcBef>
              <a:spcAft>
                <a:spcPts val="0"/>
              </a:spcAft>
              <a:defRPr/>
            </a:pP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FBF3B739-5C6F-619D-5300-28776DA07F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4669" y="3403464"/>
            <a:ext cx="4437062" cy="4001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en-US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Supervisor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255A9F-3860-6C23-C556-52F7CD997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42640" y="6376863"/>
            <a:ext cx="5166360" cy="438942"/>
          </a:xfrm>
        </p:spPr>
        <p:txBody>
          <a:bodyPr/>
          <a:lstStyle/>
          <a:p>
            <a:r>
              <a:rPr lang="en-US" sz="1800" b="1" dirty="0">
                <a:solidFill>
                  <a:schemeClr val="tx1"/>
                </a:solidFill>
              </a:rPr>
              <a:t>MACHINE LEARNING PROJECT -ZEROTH REVIEW</a:t>
            </a:r>
            <a:endParaRPr lang="en-IN" sz="1800" b="1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54B01F8-75A2-E674-8FB3-91C160A648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0887" y="0"/>
            <a:ext cx="8163969" cy="205814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A8A47D1-B6FE-DF05-8C4F-BF8ADA8CECA2}"/>
              </a:ext>
            </a:extLst>
          </p:cNvPr>
          <p:cNvSpPr txBox="1"/>
          <p:nvPr/>
        </p:nvSpPr>
        <p:spPr>
          <a:xfrm>
            <a:off x="1916745" y="2698704"/>
            <a:ext cx="83585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RisKRadar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ML BASED WOMEN SAFETY ZONE DETECTION SYSTEM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21714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9CACB-BD96-E2FF-8A86-211497479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7675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IN" sz="3200" dirty="0"/>
              <a:t>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4B721-FE62-DE79-132F-30A2E97EDB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95680"/>
            <a:ext cx="10515600" cy="5181283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571500" indent="-571500">
              <a:buAutoNum type="romanUcPeriod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571500" indent="-571500">
              <a:buAutoNum type="romanUcPeriod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</a:t>
            </a:r>
          </a:p>
          <a:p>
            <a:pPr marL="571500" indent="-571500">
              <a:buAutoNum type="romanUcPeriod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Description </a:t>
            </a:r>
          </a:p>
          <a:p>
            <a:pPr marL="571500" indent="-571500">
              <a:buAutoNum type="romanUcPeriod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 and Scope of the work</a:t>
            </a: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AutoNum type="romanUcPeriod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AutoNum type="romanUcPeriod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AutoNum type="romanUcPeriod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AutoNum type="romanUcPeriod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AutoNum type="romanUcPeriod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8EAAE-205D-9A64-683F-47C0CC980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sz="1800" b="1" dirty="0">
                <a:solidFill>
                  <a:schemeClr val="tx1"/>
                </a:solidFill>
              </a:rPr>
              <a:t>22-06-2026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EB1663-7D7B-62B7-95A6-56AB2F312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1860" y="6356350"/>
            <a:ext cx="5288280" cy="365125"/>
          </a:xfrm>
        </p:spPr>
        <p:txBody>
          <a:bodyPr/>
          <a:lstStyle/>
          <a:p>
            <a:r>
              <a:rPr lang="en-US" sz="1800" b="1">
                <a:solidFill>
                  <a:schemeClr val="tx1"/>
                </a:solidFill>
              </a:rPr>
              <a:t>MACHINE LEARNING PROJECT -ZEROTH REVIEW</a:t>
            </a:r>
            <a:endParaRPr lang="en-IN" sz="1800" b="1" dirty="0">
              <a:solidFill>
                <a:schemeClr val="tx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59530-5537-8047-8348-4ACE93D10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417F7-1E74-4EFC-97D3-AF67DA5DD88F}" type="slidenum">
              <a:rPr lang="en-IN" sz="1800" b="1" smtClean="0">
                <a:solidFill>
                  <a:schemeClr val="tx1"/>
                </a:solidFill>
              </a:rPr>
              <a:t>2</a:t>
            </a:fld>
            <a:endParaRPr lang="en-IN" sz="1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0474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4B91C-D855-718A-62B5-60ED070EE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991" y="136525"/>
            <a:ext cx="11468877" cy="725842"/>
          </a:xfrm>
          <a:solidFill>
            <a:schemeClr val="bg1"/>
          </a:solidFill>
        </p:spPr>
        <p:txBody>
          <a:bodyPr>
            <a:noAutofit/>
          </a:bodyPr>
          <a:lstStyle/>
          <a:p>
            <a:br>
              <a:rPr lang="en-IN" sz="3200" b="1" dirty="0">
                <a:latin typeface="TimesNewRomanPSMT"/>
              </a:rPr>
            </a:br>
            <a:br>
              <a:rPr lang="en-IN" sz="3200" b="1" dirty="0">
                <a:latin typeface="TimesNewRomanPSMT"/>
              </a:rPr>
            </a:br>
            <a:br>
              <a:rPr lang="en-IN" sz="3200" b="1" dirty="0">
                <a:latin typeface="TimesNewRomanPSMT"/>
              </a:rPr>
            </a:br>
            <a:r>
              <a:rPr lang="en-IN" sz="3200" b="1" dirty="0">
                <a:latin typeface="Times New Roman" pitchFamily="18" charset="0"/>
                <a:cs typeface="Times New Roman" pitchFamily="18" charset="0"/>
              </a:rPr>
              <a:t>                      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I.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(1/1)</a:t>
            </a: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</a:t>
            </a: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NewRomanPSMT"/>
              </a:rPr>
            </a:br>
            <a:br>
              <a:rPr lang="en-IN" sz="3200" b="1" dirty="0">
                <a:latin typeface="TimesNewRomanPSMT"/>
              </a:rPr>
            </a:br>
            <a:endParaRPr lang="en-IN" sz="3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FDAA19-E5D5-A0F8-8AF2-9D8477C9B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sz="1800" b="1" dirty="0">
                <a:solidFill>
                  <a:schemeClr val="tx1"/>
                </a:solidFill>
              </a:rPr>
              <a:t>22-06-2026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F12A6F-851E-36FF-7334-7ECCC8726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417F7-1E74-4EFC-97D3-AF67DA5DD88F}" type="slidenum">
              <a:rPr lang="en-IN" sz="1800" b="1" smtClean="0">
                <a:solidFill>
                  <a:schemeClr val="tx1"/>
                </a:solidFill>
              </a:rPr>
              <a:t>3</a:t>
            </a:fld>
            <a:endParaRPr lang="en-IN" sz="1800" b="1" dirty="0">
              <a:solidFill>
                <a:schemeClr val="tx1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3D2E9E-45EE-C5E8-B6DA-DE1E3FB49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2000" y="6356350"/>
            <a:ext cx="5557520" cy="365125"/>
          </a:xfrm>
        </p:spPr>
        <p:txBody>
          <a:bodyPr/>
          <a:lstStyle/>
          <a:p>
            <a:r>
              <a:rPr lang="en-US" sz="1800" b="1">
                <a:solidFill>
                  <a:schemeClr val="tx1"/>
                </a:solidFill>
              </a:rPr>
              <a:t>MACHINE LEARNING PROJECT -ZEROTH REVIEW</a:t>
            </a:r>
            <a:endParaRPr lang="en-IN" sz="1800" b="1" dirty="0">
              <a:solidFill>
                <a:schemeClr val="tx1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16EE554-30DB-933D-46AC-0BE85BB821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8991" y="862367"/>
            <a:ext cx="10944809" cy="5314596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1" dirty="0"/>
              <a:t>Setting the Stage: Women's Safety in Urban India</a:t>
            </a:r>
          </a:p>
          <a:p>
            <a:r>
              <a:rPr lang="en-IN" sz="2900" dirty="0"/>
              <a:t>Urban safety for women remains one of the most pressing socio-technological challenges of our time — especially during night hours and in poorly monitored localities.</a:t>
            </a:r>
          </a:p>
          <a:p>
            <a:r>
              <a:rPr lang="en-IN" sz="2900" dirty="0"/>
              <a:t>Machine Learning offers a transformative opportunity: moving from reactive policing to predictive, proactive safety systems that can identify danger before incidents occur.</a:t>
            </a:r>
          </a:p>
          <a:p>
            <a:r>
              <a:rPr lang="en-IN" sz="2900" dirty="0"/>
              <a:t>Traditional safety infrastructure relies heavily on post-incident response. </a:t>
            </a:r>
            <a:r>
              <a:rPr lang="en-IN" sz="2900" dirty="0" err="1"/>
              <a:t>RiskRadar</a:t>
            </a:r>
            <a:r>
              <a:rPr lang="en-IN" sz="2900" dirty="0"/>
              <a:t> bridges this gap by fusing multiple real-world data streams into a unified intelligent platform.</a:t>
            </a:r>
          </a:p>
          <a:p>
            <a:endParaRPr lang="en-IN" sz="2000" dirty="0"/>
          </a:p>
          <a:p>
            <a:r>
              <a:rPr lang="en-IN" b="1" dirty="0"/>
              <a:t>The Challenge</a:t>
            </a:r>
          </a:p>
          <a:p>
            <a:pPr marL="0" indent="0">
              <a:buNone/>
            </a:pPr>
            <a:r>
              <a:rPr lang="en-IN" dirty="0"/>
              <a:t>          High-risk zones are often invisible to law enforcement until crimes have already occurred</a:t>
            </a:r>
          </a:p>
          <a:p>
            <a:pPr marL="0" indent="0">
              <a:buNone/>
            </a:pPr>
            <a:r>
              <a:rPr lang="en-IN" dirty="0"/>
              <a:t>● </a:t>
            </a:r>
            <a:r>
              <a:rPr lang="en-IN" b="1" dirty="0"/>
              <a:t>The Opportunity</a:t>
            </a:r>
          </a:p>
          <a:p>
            <a:pPr marL="0" indent="0">
              <a:buNone/>
            </a:pPr>
            <a:r>
              <a:rPr lang="en-IN" dirty="0"/>
              <a:t>           Combining crime data, lighting maps &amp; population flow enables zone-level risk prediction</a:t>
            </a:r>
          </a:p>
          <a:p>
            <a:pPr marL="0" indent="0">
              <a:buNone/>
            </a:pPr>
            <a:r>
              <a:rPr lang="en-IN" dirty="0"/>
              <a:t>● </a:t>
            </a:r>
            <a:r>
              <a:rPr lang="en-IN" b="1" dirty="0"/>
              <a:t>The Solution</a:t>
            </a:r>
          </a:p>
          <a:p>
            <a:pPr marL="0" indent="0">
              <a:buNone/>
            </a:pPr>
            <a:r>
              <a:rPr lang="en-IN" dirty="0"/>
              <a:t>             A Machine Learning pipeline — </a:t>
            </a:r>
            <a:r>
              <a:rPr lang="en-IN" dirty="0" err="1"/>
              <a:t>RiskRadar</a:t>
            </a:r>
            <a:r>
              <a:rPr lang="en-IN" dirty="0"/>
              <a:t> — trained to flag unsafe areas in advance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56937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CE176-68F0-B050-B666-F75BABC59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B0AEE-9D04-0E18-7CB7-45FD743DB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991" y="136525"/>
            <a:ext cx="11468877" cy="725842"/>
          </a:xfrm>
          <a:solidFill>
            <a:schemeClr val="bg1"/>
          </a:solidFill>
        </p:spPr>
        <p:txBody>
          <a:bodyPr>
            <a:noAutofit/>
          </a:bodyPr>
          <a:lstStyle/>
          <a:p>
            <a:br>
              <a:rPr lang="en-IN" sz="3200" b="1" dirty="0">
                <a:latin typeface="TimesNewRomanPSMT"/>
              </a:rPr>
            </a:br>
            <a:br>
              <a:rPr lang="en-IN" sz="3200" b="1" dirty="0">
                <a:latin typeface="TimesNewRomanPSMT"/>
              </a:rPr>
            </a:br>
            <a:br>
              <a:rPr lang="en-IN" sz="3200" b="1" dirty="0">
                <a:latin typeface="TimesNewRomanPSMT"/>
              </a:rPr>
            </a:br>
            <a:r>
              <a:rPr lang="en-IN" sz="3200" b="1" dirty="0">
                <a:latin typeface="Times New Roman" pitchFamily="18" charset="0"/>
                <a:cs typeface="Times New Roman" pitchFamily="18" charset="0"/>
              </a:rPr>
              <a:t>                      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II.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(1/1)</a:t>
            </a: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</a:t>
            </a: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NewRomanPSMT"/>
              </a:rPr>
            </a:br>
            <a:br>
              <a:rPr lang="en-IN" sz="3200" b="1" dirty="0">
                <a:latin typeface="TimesNewRomanPSMT"/>
              </a:rPr>
            </a:b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6C1DD8-57DF-915D-4073-23655640B0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8991" y="957877"/>
            <a:ext cx="11468877" cy="5302963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IN" sz="2200" b="1" dirty="0"/>
              <a:t>REACTIVE ONLY SYSTEMS </a:t>
            </a:r>
            <a:r>
              <a:rPr lang="en-IN" sz="2200" dirty="0"/>
              <a:t>– safety measures are triggered after incidents, not before</a:t>
            </a:r>
          </a:p>
          <a:p>
            <a:pPr algn="just">
              <a:lnSpc>
                <a:spcPct val="150000"/>
              </a:lnSpc>
            </a:pPr>
            <a:r>
              <a:rPr lang="en-IN" sz="2200" b="1" dirty="0"/>
              <a:t>NO ZONE-LEVEL RISK SCORING </a:t>
            </a:r>
            <a:r>
              <a:rPr lang="en-IN" sz="2200" dirty="0"/>
              <a:t>– Police patrol rules are not optimized by predicted risk</a:t>
            </a:r>
          </a:p>
          <a:p>
            <a:pPr algn="just">
              <a:lnSpc>
                <a:spcPct val="150000"/>
              </a:lnSpc>
            </a:pPr>
            <a:r>
              <a:rPr lang="en-IN" sz="2200" b="1" dirty="0"/>
              <a:t>SILOED DATA SOURCES </a:t>
            </a:r>
            <a:r>
              <a:rPr lang="en-IN" sz="2200" dirty="0"/>
              <a:t>– crime record, lighting data, and movement data are not integrated</a:t>
            </a:r>
          </a:p>
          <a:p>
            <a:pPr algn="just">
              <a:lnSpc>
                <a:spcPct val="150000"/>
              </a:lnSpc>
            </a:pPr>
            <a:r>
              <a:rPr lang="en-IN" sz="2200" b="1" dirty="0"/>
              <a:t>NIGHT HOUR VULNERABILITY </a:t>
            </a:r>
            <a:r>
              <a:rPr lang="en-IN" sz="2200" dirty="0"/>
              <a:t>– poorly lit and low- surveillance area are especially under- monitored</a:t>
            </a:r>
          </a:p>
          <a:p>
            <a:pPr algn="just">
              <a:lnSpc>
                <a:spcPct val="150000"/>
              </a:lnSpc>
            </a:pPr>
            <a:r>
              <a:rPr lang="en-IN" sz="2200" b="1" dirty="0"/>
              <a:t>NO INTELLIGENT PREDICTION ENGINE </a:t>
            </a:r>
            <a:r>
              <a:rPr lang="en-IN" sz="2200" dirty="0"/>
              <a:t>– No existing system combines all three data streams with ML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2329F0-6B40-55EC-9D00-2D76FB1B4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sz="1800" b="1" dirty="0">
                <a:solidFill>
                  <a:schemeClr val="tx1"/>
                </a:solidFill>
              </a:rPr>
              <a:t>22-06-2026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9C8C8E-A250-6F8E-CE71-E17F9AB37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417F7-1E74-4EFC-97D3-AF67DA5DD88F}" type="slidenum">
              <a:rPr lang="en-IN" sz="1800" b="1" smtClean="0">
                <a:solidFill>
                  <a:schemeClr val="tx1"/>
                </a:solidFill>
              </a:rPr>
              <a:t>4</a:t>
            </a:fld>
            <a:endParaRPr lang="en-IN" sz="1800" b="1" dirty="0">
              <a:solidFill>
                <a:schemeClr val="tx1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EB168E-18E9-3C04-1D66-943876397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2000" y="6356350"/>
            <a:ext cx="5557520" cy="365125"/>
          </a:xfrm>
        </p:spPr>
        <p:txBody>
          <a:bodyPr/>
          <a:lstStyle/>
          <a:p>
            <a:r>
              <a:rPr lang="en-US" sz="1800" b="1">
                <a:solidFill>
                  <a:schemeClr val="tx1"/>
                </a:solidFill>
              </a:rPr>
              <a:t>MACHINE LEARNING PROJECT -ZEROTH REVIEW</a:t>
            </a:r>
            <a:endParaRPr lang="en-IN" sz="1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21829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46695-E4B4-2B4E-02BA-BBB1BCAAB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A329E-1C71-C0CB-D83B-1D05AC72B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991" y="136525"/>
            <a:ext cx="11468877" cy="725842"/>
          </a:xfrm>
          <a:solidFill>
            <a:schemeClr val="bg1"/>
          </a:solidFill>
        </p:spPr>
        <p:txBody>
          <a:bodyPr>
            <a:noAutofit/>
          </a:bodyPr>
          <a:lstStyle/>
          <a:p>
            <a:br>
              <a:rPr lang="en-IN" sz="3200" b="1" dirty="0">
                <a:latin typeface="TimesNewRomanPSMT"/>
              </a:rPr>
            </a:br>
            <a:br>
              <a:rPr lang="en-IN" sz="3200" b="1" dirty="0">
                <a:latin typeface="TimesNewRomanPSMT"/>
              </a:rPr>
            </a:br>
            <a:br>
              <a:rPr lang="en-IN" sz="3200" b="1" dirty="0">
                <a:latin typeface="TimesNewRomanPSMT"/>
              </a:rPr>
            </a:br>
            <a:r>
              <a:rPr lang="en-IN" sz="3200" b="1" dirty="0">
                <a:latin typeface="Times New Roman" pitchFamily="18" charset="0"/>
                <a:cs typeface="Times New Roman" pitchFamily="18" charset="0"/>
              </a:rPr>
              <a:t>                      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III.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 Description (1/1)</a:t>
            </a: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</a:t>
            </a: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NewRomanPSMT"/>
              </a:rPr>
            </a:br>
            <a:br>
              <a:rPr lang="en-IN" sz="3200" b="1" dirty="0">
                <a:latin typeface="TimesNewRomanPSMT"/>
              </a:rPr>
            </a:b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48AD5-540D-AF0E-55F3-AA8FCA1175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8991" y="957877"/>
            <a:ext cx="11468877" cy="5302963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IN" b="1" dirty="0"/>
              <a:t>HOW IT WORKS</a:t>
            </a:r>
          </a:p>
          <a:p>
            <a:r>
              <a:rPr lang="en-IN" sz="2400" b="1" dirty="0"/>
              <a:t>Crime Records</a:t>
            </a:r>
          </a:p>
          <a:p>
            <a:pPr marL="0" indent="0">
              <a:buNone/>
            </a:pPr>
            <a:r>
              <a:rPr lang="en-IN" sz="2400" dirty="0"/>
              <a:t>       Historical crime incident data — location, time, type, and frequency — used to identify</a:t>
            </a:r>
          </a:p>
          <a:p>
            <a:pPr marL="0" indent="0">
              <a:buNone/>
            </a:pPr>
            <a:r>
              <a:rPr lang="en-IN" sz="2400" dirty="0"/>
              <a:t> Recurring danger patterns across urban zones.</a:t>
            </a:r>
          </a:p>
          <a:p>
            <a:r>
              <a:rPr lang="en-IN" sz="2400" b="1" dirty="0"/>
              <a:t>Street Lighting Data</a:t>
            </a:r>
          </a:p>
          <a:p>
            <a:pPr marL="0" indent="0">
              <a:buNone/>
            </a:pPr>
            <a:r>
              <a:rPr lang="en-IN" sz="2400" dirty="0"/>
              <a:t>       Mapping of functional vs. non-functional street lights to correlate poor illumination with elevated safety risk in specific areas.</a:t>
            </a:r>
          </a:p>
          <a:p>
            <a:r>
              <a:rPr lang="en-IN" sz="2400" b="1" dirty="0"/>
              <a:t>Population Movement</a:t>
            </a:r>
          </a:p>
          <a:p>
            <a:pPr marL="0" indent="0">
              <a:buNone/>
            </a:pPr>
            <a:r>
              <a:rPr lang="en-IN" sz="2400" dirty="0"/>
              <a:t>       Foot traffic and population density patterns — especially during night hours — to assess isolation risk and crowd dynamics in urban zones.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  <a:p>
            <a:pPr algn="just">
              <a:lnSpc>
                <a:spcPct val="150000"/>
              </a:lnSpc>
            </a:pPr>
            <a:endParaRPr lang="en-IN" sz="2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581DD0-671D-B094-37D4-5967FBB0E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sz="1800" b="1" dirty="0">
                <a:solidFill>
                  <a:schemeClr val="tx1"/>
                </a:solidFill>
              </a:rPr>
              <a:t>22-06-2026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940FEA-EAC7-C33B-C8EF-E5D223495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417F7-1E74-4EFC-97D3-AF67DA5DD88F}" type="slidenum">
              <a:rPr lang="en-IN" sz="1800" b="1" smtClean="0">
                <a:solidFill>
                  <a:schemeClr val="tx1"/>
                </a:solidFill>
              </a:rPr>
              <a:t>5</a:t>
            </a:fld>
            <a:endParaRPr lang="en-IN" sz="1800" b="1" dirty="0">
              <a:solidFill>
                <a:schemeClr val="tx1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C1C965-A441-6601-76C5-07C4BB33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2000" y="6356350"/>
            <a:ext cx="5557520" cy="365125"/>
          </a:xfrm>
        </p:spPr>
        <p:txBody>
          <a:bodyPr/>
          <a:lstStyle/>
          <a:p>
            <a:r>
              <a:rPr lang="en-US" sz="1800" b="1">
                <a:solidFill>
                  <a:schemeClr val="tx1"/>
                </a:solidFill>
              </a:rPr>
              <a:t>MACHINE LEARNING PROJECT -ZEROTH REVIEW</a:t>
            </a:r>
            <a:endParaRPr lang="en-IN" sz="1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54317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EDC4A-A19D-69B2-A998-8B4F1525C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AB381-50DC-8731-65F0-21436329E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991" y="136525"/>
            <a:ext cx="11468877" cy="725842"/>
          </a:xfrm>
          <a:solidFill>
            <a:schemeClr val="bg1"/>
          </a:solidFill>
        </p:spPr>
        <p:txBody>
          <a:bodyPr>
            <a:noAutofit/>
          </a:bodyPr>
          <a:lstStyle/>
          <a:p>
            <a:br>
              <a:rPr lang="en-IN" sz="3200" b="1" dirty="0">
                <a:latin typeface="TimesNewRomanPSMT"/>
              </a:rPr>
            </a:br>
            <a:br>
              <a:rPr lang="en-IN" sz="3200" b="1" dirty="0">
                <a:latin typeface="TimesNewRomanPSMT"/>
              </a:rPr>
            </a:br>
            <a:br>
              <a:rPr lang="en-IN" sz="3200" b="1" dirty="0">
                <a:latin typeface="TimesNewRomanPSMT"/>
              </a:rPr>
            </a:br>
            <a:r>
              <a:rPr lang="en-IN" sz="3200" b="1" dirty="0">
                <a:latin typeface="Times New Roman" pitchFamily="18" charset="0"/>
                <a:cs typeface="Times New Roman" pitchFamily="18" charset="0"/>
              </a:rPr>
              <a:t>                      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IV.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 &amp; Scope of the Proposed Work (1/1)</a:t>
            </a: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</a:t>
            </a: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NewRomanPSMT"/>
              </a:rPr>
            </a:br>
            <a:br>
              <a:rPr lang="en-IN" sz="3200" b="1" dirty="0">
                <a:latin typeface="TimesNewRomanPSMT"/>
              </a:rPr>
            </a:b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4DEFC0-8D70-EE39-E84E-52E00D696D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8991" y="957877"/>
            <a:ext cx="11468877" cy="5302963"/>
          </a:xfrm>
          <a:solidFill>
            <a:schemeClr val="bg1"/>
          </a:solidFill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en-IN" sz="2400" b="1" dirty="0"/>
              <a:t>AIM</a:t>
            </a:r>
          </a:p>
          <a:p>
            <a:pPr algn="just">
              <a:lnSpc>
                <a:spcPct val="150000"/>
              </a:lnSpc>
            </a:pPr>
            <a:r>
              <a:rPr lang="en-US" sz="2200" dirty="0"/>
              <a:t>A ML-based system that identifies high-risk zones for women's safety by analyzing crime records, street lighting conditions, and population movement patterns, enabling data-driven decision-making.</a:t>
            </a:r>
          </a:p>
          <a:p>
            <a:pPr algn="just">
              <a:lnSpc>
                <a:spcPct val="150000"/>
              </a:lnSpc>
            </a:pPr>
            <a:r>
              <a:rPr lang="en-US" b="1" dirty="0"/>
              <a:t>SCOPE</a:t>
            </a:r>
          </a:p>
          <a:p>
            <a:pPr algn="just">
              <a:lnSpc>
                <a:spcPct val="150000"/>
              </a:lnSpc>
            </a:pPr>
            <a:r>
              <a:rPr lang="en-US" sz="2200" b="1" dirty="0"/>
              <a:t>Multi source data Fusion</a:t>
            </a:r>
            <a:r>
              <a:rPr lang="en-US" sz="2200" dirty="0"/>
              <a:t> – integrating crime records, street lighting maps and population movement</a:t>
            </a:r>
          </a:p>
          <a:p>
            <a:pPr algn="just">
              <a:lnSpc>
                <a:spcPct val="150000"/>
              </a:lnSpc>
            </a:pPr>
            <a:r>
              <a:rPr lang="en-US" sz="2200" b="1" dirty="0"/>
              <a:t>Public Safety Awareness</a:t>
            </a:r>
            <a:r>
              <a:rPr lang="en-US" sz="2200" dirty="0"/>
              <a:t>- Improving Awareness of high risk zones through visual risk outputs</a:t>
            </a:r>
          </a:p>
          <a:p>
            <a:pPr algn="just">
              <a:lnSpc>
                <a:spcPct val="150000"/>
              </a:lnSpc>
            </a:pPr>
            <a:r>
              <a:rPr lang="en-US" sz="2200" b="1" dirty="0"/>
              <a:t>Smart city Integration</a:t>
            </a:r>
            <a:r>
              <a:rPr lang="en-US" sz="2200" dirty="0"/>
              <a:t>- Enabling Future integration with smart city for safety Monitoring.</a:t>
            </a:r>
            <a:endParaRPr lang="en-IN" sz="2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A6BAFD-A7E1-6EED-DD64-2E60EB00C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sz="1800" b="1" dirty="0">
                <a:solidFill>
                  <a:schemeClr val="tx1"/>
                </a:solidFill>
              </a:rPr>
              <a:t>22-06-2026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77B180-5CF0-6F59-1F8F-C0C394660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417F7-1E74-4EFC-97D3-AF67DA5DD88F}" type="slidenum">
              <a:rPr lang="en-IN" sz="1800" b="1" smtClean="0">
                <a:solidFill>
                  <a:schemeClr val="tx1"/>
                </a:solidFill>
              </a:rPr>
              <a:t>6</a:t>
            </a:fld>
            <a:endParaRPr lang="en-IN" sz="1800" b="1" dirty="0">
              <a:solidFill>
                <a:schemeClr val="tx1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9FFB7B-BEAD-88AD-F8AE-4C945B93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2000" y="6356350"/>
            <a:ext cx="5557520" cy="365125"/>
          </a:xfrm>
        </p:spPr>
        <p:txBody>
          <a:bodyPr/>
          <a:lstStyle/>
          <a:p>
            <a:r>
              <a:rPr lang="en-US" sz="1800" b="1">
                <a:solidFill>
                  <a:schemeClr val="tx1"/>
                </a:solidFill>
              </a:rPr>
              <a:t>MACHINE LEARNING PROJECT -ZEROTH REVIEW</a:t>
            </a:r>
            <a:endParaRPr lang="en-IN" sz="1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30047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623</Words>
  <Application>Microsoft Office PowerPoint</Application>
  <PresentationFormat>Widescreen</PresentationFormat>
  <Paragraphs>72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TimesNewRomanPSMT</vt:lpstr>
      <vt:lpstr>Office Theme</vt:lpstr>
      <vt:lpstr>CS5305-MACHINE LEARNING</vt:lpstr>
      <vt:lpstr> CONTENTS</vt:lpstr>
      <vt:lpstr>                                                                                I.Introduction (1/1)                                                                                      </vt:lpstr>
      <vt:lpstr>                                                                II.Problem Statement (1/1)                                                                                      </vt:lpstr>
      <vt:lpstr>                                                                III.Project  Description (1/1)                                                                                      </vt:lpstr>
      <vt:lpstr>                                                               IV.Aim &amp; Scope of the Proposed Work (1/1)                                                                               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ayeesha nasreen</dc:creator>
  <cp:lastModifiedBy>Sasmita shree P</cp:lastModifiedBy>
  <cp:revision>9</cp:revision>
  <dcterms:created xsi:type="dcterms:W3CDTF">2025-03-10T15:11:33Z</dcterms:created>
  <dcterms:modified xsi:type="dcterms:W3CDTF">2026-06-21T18:22:04Z</dcterms:modified>
</cp:coreProperties>
</file>